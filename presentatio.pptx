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oxima Nova Bold" charset="1" panose="02000506030000020004"/>
      <p:regular r:id="rId14"/>
    </p:embeddedFont>
    <p:embeddedFont>
      <p:font typeface="Proxima Nova" charset="1" panose="0200050603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391" y="1702350"/>
            <a:ext cx="7298536" cy="7070457"/>
          </a:xfrm>
          <a:custGeom>
            <a:avLst/>
            <a:gdLst/>
            <a:ahLst/>
            <a:cxnLst/>
            <a:rect r="r" b="b" t="t" l="l"/>
            <a:pathLst>
              <a:path h="7070457" w="7298536">
                <a:moveTo>
                  <a:pt x="0" y="0"/>
                </a:moveTo>
                <a:lnTo>
                  <a:pt x="7298536" y="0"/>
                </a:lnTo>
                <a:lnTo>
                  <a:pt x="7298536" y="7070456"/>
                </a:lnTo>
                <a:lnTo>
                  <a:pt x="0" y="707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10073930" y="5881118"/>
            <a:ext cx="6404205" cy="0"/>
          </a:xfrm>
          <a:prstGeom prst="line">
            <a:avLst/>
          </a:prstGeom>
          <a:ln cap="flat" w="28575">
            <a:solidFill>
              <a:srgbClr val="739F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073930" y="8043929"/>
            <a:ext cx="3346441" cy="524993"/>
            <a:chOff x="0" y="0"/>
            <a:chExt cx="2590499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590499">
                  <a:moveTo>
                    <a:pt x="2387299" y="0"/>
                  </a:moveTo>
                  <a:cubicBezTo>
                    <a:pt x="2499523" y="0"/>
                    <a:pt x="2590499" y="90976"/>
                    <a:pt x="2590499" y="203200"/>
                  </a:cubicBezTo>
                  <a:cubicBezTo>
                    <a:pt x="2590499" y="315424"/>
                    <a:pt x="2499523" y="406400"/>
                    <a:pt x="23872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9F2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9049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05110" y="8072616"/>
            <a:ext cx="1576509" cy="467620"/>
            <a:chOff x="0" y="0"/>
            <a:chExt cx="1370114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0115" cy="406400"/>
            </a:xfrm>
            <a:custGeom>
              <a:avLst/>
              <a:gdLst/>
              <a:ahLst/>
              <a:cxnLst/>
              <a:rect r="r" b="b" t="t" l="l"/>
              <a:pathLst>
                <a:path h="406400" w="1370115">
                  <a:moveTo>
                    <a:pt x="1166915" y="0"/>
                  </a:moveTo>
                  <a:cubicBezTo>
                    <a:pt x="1279139" y="0"/>
                    <a:pt x="1370115" y="90976"/>
                    <a:pt x="1370115" y="203200"/>
                  </a:cubicBezTo>
                  <a:cubicBezTo>
                    <a:pt x="1370115" y="315424"/>
                    <a:pt x="1279139" y="406400"/>
                    <a:pt x="116691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011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59914" y="8109259"/>
            <a:ext cx="14872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See More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73930" y="6346575"/>
            <a:ext cx="640420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Платформа, създадена да помага на компаниите да наблюдават, анализират и намаляват своите CO₂ емисии.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3930" y="2370475"/>
            <a:ext cx="7672905" cy="207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3"/>
              </a:lnSpc>
              <a:spcBef>
                <a:spcPct val="0"/>
              </a:spcBef>
            </a:pPr>
            <a:r>
              <a:rPr lang="en-US" sz="12123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Green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73930" y="3803159"/>
            <a:ext cx="4783769" cy="167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4"/>
              </a:lnSpc>
              <a:spcBef>
                <a:spcPct val="0"/>
              </a:spcBef>
            </a:pPr>
            <a:r>
              <a:rPr lang="en-US" sz="972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Win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037980" y="8306426"/>
            <a:ext cx="1110768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92599" y="809455"/>
            <a:ext cx="28954701" cy="8831184"/>
          </a:xfrm>
          <a:custGeom>
            <a:avLst/>
            <a:gdLst/>
            <a:ahLst/>
            <a:cxnLst/>
            <a:rect r="r" b="b" t="t" l="l"/>
            <a:pathLst>
              <a:path h="8831184" w="28954701">
                <a:moveTo>
                  <a:pt x="0" y="0"/>
                </a:moveTo>
                <a:lnTo>
                  <a:pt x="28954701" y="0"/>
                </a:lnTo>
                <a:lnTo>
                  <a:pt x="28954701" y="8831184"/>
                </a:lnTo>
                <a:lnTo>
                  <a:pt x="0" y="883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96259" y="1685958"/>
            <a:ext cx="17290511" cy="7226487"/>
            <a:chOff x="0" y="0"/>
            <a:chExt cx="97237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2376" cy="406400"/>
            </a:xfrm>
            <a:custGeom>
              <a:avLst/>
              <a:gdLst/>
              <a:ahLst/>
              <a:cxnLst/>
              <a:rect r="r" b="b" t="t" l="l"/>
              <a:pathLst>
                <a:path h="406400" w="972376">
                  <a:moveTo>
                    <a:pt x="769176" y="0"/>
                  </a:moveTo>
                  <a:cubicBezTo>
                    <a:pt x="881400" y="0"/>
                    <a:pt x="972376" y="90976"/>
                    <a:pt x="972376" y="203200"/>
                  </a:cubicBezTo>
                  <a:cubicBezTo>
                    <a:pt x="972376" y="315424"/>
                    <a:pt x="881400" y="406400"/>
                    <a:pt x="7691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739F2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7237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85072" y="2145380"/>
            <a:ext cx="7288561" cy="6307642"/>
          </a:xfrm>
          <a:custGeom>
            <a:avLst/>
            <a:gdLst/>
            <a:ahLst/>
            <a:cxnLst/>
            <a:rect r="r" b="b" t="t" l="l"/>
            <a:pathLst>
              <a:path h="6307642" w="7288561">
                <a:moveTo>
                  <a:pt x="0" y="0"/>
                </a:moveTo>
                <a:lnTo>
                  <a:pt x="7288561" y="0"/>
                </a:lnTo>
                <a:lnTo>
                  <a:pt x="7288561" y="6307642"/>
                </a:lnTo>
                <a:lnTo>
                  <a:pt x="0" y="630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6969" y="5334898"/>
            <a:ext cx="621911" cy="562052"/>
          </a:xfrm>
          <a:custGeom>
            <a:avLst/>
            <a:gdLst/>
            <a:ahLst/>
            <a:cxnLst/>
            <a:rect r="r" b="b" t="t" l="l"/>
            <a:pathLst>
              <a:path h="562052" w="621911">
                <a:moveTo>
                  <a:pt x="0" y="0"/>
                </a:moveTo>
                <a:lnTo>
                  <a:pt x="621912" y="0"/>
                </a:lnTo>
                <a:lnTo>
                  <a:pt x="621912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969" y="6981661"/>
            <a:ext cx="621911" cy="621911"/>
          </a:xfrm>
          <a:custGeom>
            <a:avLst/>
            <a:gdLst/>
            <a:ahLst/>
            <a:cxnLst/>
            <a:rect r="r" b="b" t="t" l="l"/>
            <a:pathLst>
              <a:path h="621911" w="621911">
                <a:moveTo>
                  <a:pt x="0" y="0"/>
                </a:moveTo>
                <a:lnTo>
                  <a:pt x="621912" y="0"/>
                </a:lnTo>
                <a:lnTo>
                  <a:pt x="621912" y="621911"/>
                </a:lnTo>
                <a:lnTo>
                  <a:pt x="0" y="621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5670" y="2309184"/>
            <a:ext cx="74008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Проблемът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5670" y="2994988"/>
            <a:ext cx="795894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и сегашни решения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05657" y="4868813"/>
            <a:ext cx="377957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Множество емисии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5657" y="5389582"/>
            <a:ext cx="579188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ИТ секторът в момента бълва емисии от милиарди изчислителни процеси всекидневно.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05657" y="6702667"/>
            <a:ext cx="377957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Настоящи</a:t>
            </a: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решения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5657" y="7223436"/>
            <a:ext cx="579188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Затворени екосистеми, липса на достъпни B2B решения с прозрачни метрики за намаляване на отпечатъка.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32402" y="5143500"/>
            <a:ext cx="889725" cy="889725"/>
          </a:xfrm>
          <a:custGeom>
            <a:avLst/>
            <a:gdLst/>
            <a:ahLst/>
            <a:cxnLst/>
            <a:rect r="r" b="b" t="t" l="l"/>
            <a:pathLst>
              <a:path h="889725" w="889725">
                <a:moveTo>
                  <a:pt x="0" y="0"/>
                </a:moveTo>
                <a:lnTo>
                  <a:pt x="889725" y="0"/>
                </a:lnTo>
                <a:lnTo>
                  <a:pt x="889725" y="889725"/>
                </a:lnTo>
                <a:lnTo>
                  <a:pt x="0" y="88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02964"/>
            <a:ext cx="7410739" cy="7067992"/>
          </a:xfrm>
          <a:custGeom>
            <a:avLst/>
            <a:gdLst/>
            <a:ahLst/>
            <a:cxnLst/>
            <a:rect r="r" b="b" t="t" l="l"/>
            <a:pathLst>
              <a:path h="7067992" w="7410739">
                <a:moveTo>
                  <a:pt x="0" y="0"/>
                </a:moveTo>
                <a:lnTo>
                  <a:pt x="7410739" y="0"/>
                </a:lnTo>
                <a:lnTo>
                  <a:pt x="7410739" y="7067992"/>
                </a:lnTo>
                <a:lnTo>
                  <a:pt x="0" y="70679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32402" y="2345156"/>
            <a:ext cx="6379880" cy="120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9"/>
              </a:lnSpc>
              <a:spcBef>
                <a:spcPct val="0"/>
              </a:spcBef>
            </a:pPr>
            <a:r>
              <a:rPr lang="en-US" sz="7049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Цел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2402" y="3088970"/>
            <a:ext cx="8026898" cy="120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9"/>
              </a:lnSpc>
              <a:spcBef>
                <a:spcPct val="0"/>
              </a:spcBef>
            </a:pPr>
            <a:r>
              <a:rPr lang="en-US" sz="7049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на проекта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8471" y="5185655"/>
            <a:ext cx="6705239" cy="75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849" indent="-234425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Да направим Carbon-Aware computing достъпен</a:t>
            </a:r>
          </a:p>
          <a:p>
            <a:pPr algn="l" marL="468849" indent="-234425" lvl="1">
              <a:lnSpc>
                <a:spcPts val="3040"/>
              </a:lnSpc>
              <a:spcBef>
                <a:spcPct val="0"/>
              </a:spcBef>
              <a:buFont typeface="Arial"/>
              <a:buChar char="•"/>
            </a:pPr>
            <a:r>
              <a:rPr lang="en-US" sz="2171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Да намалим CO₂ емисиите от cloud задачи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9697" y="6347410"/>
            <a:ext cx="7585355" cy="114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849" indent="-234425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Да автоматизираме процеса по оптимизация</a:t>
            </a:r>
          </a:p>
          <a:p>
            <a:pPr algn="l" marL="468849" indent="-234425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Да осигурим ясни и измерими резултати</a:t>
            </a:r>
          </a:p>
          <a:p>
            <a:pPr algn="l">
              <a:lnSpc>
                <a:spcPts val="3040"/>
              </a:lnSpc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>
            <a:off x="9232402" y="8039593"/>
            <a:ext cx="1110768" cy="0"/>
          </a:xfrm>
          <a:prstGeom prst="line">
            <a:avLst/>
          </a:prstGeom>
          <a:ln cap="flat" w="28575">
            <a:solidFill>
              <a:srgbClr val="739F2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0125" y="5239043"/>
            <a:ext cx="1928825" cy="639498"/>
            <a:chOff x="0" y="0"/>
            <a:chExt cx="122576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5766" cy="406400"/>
            </a:xfrm>
            <a:custGeom>
              <a:avLst/>
              <a:gdLst/>
              <a:ahLst/>
              <a:cxnLst/>
              <a:rect r="r" b="b" t="t" l="l"/>
              <a:pathLst>
                <a:path h="406400" w="1225766">
                  <a:moveTo>
                    <a:pt x="1022566" y="0"/>
                  </a:moveTo>
                  <a:cubicBezTo>
                    <a:pt x="1134791" y="0"/>
                    <a:pt x="1225766" y="90976"/>
                    <a:pt x="1225766" y="203200"/>
                  </a:cubicBezTo>
                  <a:cubicBezTo>
                    <a:pt x="1225766" y="315424"/>
                    <a:pt x="1134791" y="406400"/>
                    <a:pt x="102256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739F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257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10020" y="5239043"/>
            <a:ext cx="1928825" cy="639498"/>
            <a:chOff x="0" y="0"/>
            <a:chExt cx="122576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766" cy="406400"/>
            </a:xfrm>
            <a:custGeom>
              <a:avLst/>
              <a:gdLst/>
              <a:ahLst/>
              <a:cxnLst/>
              <a:rect r="r" b="b" t="t" l="l"/>
              <a:pathLst>
                <a:path h="406400" w="1225766">
                  <a:moveTo>
                    <a:pt x="1022566" y="0"/>
                  </a:moveTo>
                  <a:cubicBezTo>
                    <a:pt x="1134791" y="0"/>
                    <a:pt x="1225766" y="90976"/>
                    <a:pt x="1225766" y="203200"/>
                  </a:cubicBezTo>
                  <a:cubicBezTo>
                    <a:pt x="1225766" y="315424"/>
                    <a:pt x="1134791" y="406400"/>
                    <a:pt x="102256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257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00125" y="7338136"/>
            <a:ext cx="1928825" cy="639498"/>
            <a:chOff x="0" y="0"/>
            <a:chExt cx="122576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5766" cy="406400"/>
            </a:xfrm>
            <a:custGeom>
              <a:avLst/>
              <a:gdLst/>
              <a:ahLst/>
              <a:cxnLst/>
              <a:rect r="r" b="b" t="t" l="l"/>
              <a:pathLst>
                <a:path h="406400" w="1225766">
                  <a:moveTo>
                    <a:pt x="1022566" y="0"/>
                  </a:moveTo>
                  <a:cubicBezTo>
                    <a:pt x="1134791" y="0"/>
                    <a:pt x="1225766" y="90976"/>
                    <a:pt x="1225766" y="203200"/>
                  </a:cubicBezTo>
                  <a:cubicBezTo>
                    <a:pt x="1225766" y="315424"/>
                    <a:pt x="1134791" y="406400"/>
                    <a:pt x="102256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257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10020" y="7338136"/>
            <a:ext cx="1928825" cy="639498"/>
            <a:chOff x="0" y="0"/>
            <a:chExt cx="1225766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766" cy="406400"/>
            </a:xfrm>
            <a:custGeom>
              <a:avLst/>
              <a:gdLst/>
              <a:ahLst/>
              <a:cxnLst/>
              <a:rect r="r" b="b" t="t" l="l"/>
              <a:pathLst>
                <a:path h="406400" w="1225766">
                  <a:moveTo>
                    <a:pt x="1022566" y="0"/>
                  </a:moveTo>
                  <a:cubicBezTo>
                    <a:pt x="1134791" y="0"/>
                    <a:pt x="1225766" y="90976"/>
                    <a:pt x="1225766" y="203200"/>
                  </a:cubicBezTo>
                  <a:cubicBezTo>
                    <a:pt x="1225766" y="315424"/>
                    <a:pt x="1134791" y="406400"/>
                    <a:pt x="102256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739F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257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10020" y="3142220"/>
            <a:ext cx="1928825" cy="639498"/>
            <a:chOff x="0" y="0"/>
            <a:chExt cx="1225766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5766" cy="406400"/>
            </a:xfrm>
            <a:custGeom>
              <a:avLst/>
              <a:gdLst/>
              <a:ahLst/>
              <a:cxnLst/>
              <a:rect r="r" b="b" t="t" l="l"/>
              <a:pathLst>
                <a:path h="406400" w="1225766">
                  <a:moveTo>
                    <a:pt x="1022566" y="0"/>
                  </a:moveTo>
                  <a:cubicBezTo>
                    <a:pt x="1134791" y="0"/>
                    <a:pt x="1225766" y="90976"/>
                    <a:pt x="1225766" y="203200"/>
                  </a:cubicBezTo>
                  <a:cubicBezTo>
                    <a:pt x="1225766" y="315424"/>
                    <a:pt x="1134791" y="406400"/>
                    <a:pt x="102256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739F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257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25655" y="5239043"/>
            <a:ext cx="621911" cy="639498"/>
          </a:xfrm>
          <a:custGeom>
            <a:avLst/>
            <a:gdLst/>
            <a:ahLst/>
            <a:cxnLst/>
            <a:rect r="r" b="b" t="t" l="l"/>
            <a:pathLst>
              <a:path h="639498" w="621911">
                <a:moveTo>
                  <a:pt x="0" y="0"/>
                </a:moveTo>
                <a:lnTo>
                  <a:pt x="621911" y="0"/>
                </a:lnTo>
                <a:lnTo>
                  <a:pt x="621911" y="639497"/>
                </a:lnTo>
                <a:lnTo>
                  <a:pt x="0" y="63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09647" y="5219267"/>
            <a:ext cx="621911" cy="621911"/>
          </a:xfrm>
          <a:custGeom>
            <a:avLst/>
            <a:gdLst/>
            <a:ahLst/>
            <a:cxnLst/>
            <a:rect r="r" b="b" t="t" l="l"/>
            <a:pathLst>
              <a:path h="621911" w="621911">
                <a:moveTo>
                  <a:pt x="0" y="0"/>
                </a:moveTo>
                <a:lnTo>
                  <a:pt x="621912" y="0"/>
                </a:lnTo>
                <a:lnTo>
                  <a:pt x="621912" y="621911"/>
                </a:lnTo>
                <a:lnTo>
                  <a:pt x="0" y="62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09647" y="3210675"/>
            <a:ext cx="621911" cy="507635"/>
          </a:xfrm>
          <a:custGeom>
            <a:avLst/>
            <a:gdLst/>
            <a:ahLst/>
            <a:cxnLst/>
            <a:rect r="r" b="b" t="t" l="l"/>
            <a:pathLst>
              <a:path h="507635" w="621911">
                <a:moveTo>
                  <a:pt x="0" y="0"/>
                </a:moveTo>
                <a:lnTo>
                  <a:pt x="621912" y="0"/>
                </a:lnTo>
                <a:lnTo>
                  <a:pt x="621912" y="507635"/>
                </a:lnTo>
                <a:lnTo>
                  <a:pt x="0" y="50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5655" y="7334915"/>
            <a:ext cx="621911" cy="629131"/>
          </a:xfrm>
          <a:custGeom>
            <a:avLst/>
            <a:gdLst/>
            <a:ahLst/>
            <a:cxnLst/>
            <a:rect r="r" b="b" t="t" l="l"/>
            <a:pathLst>
              <a:path h="629131" w="621911">
                <a:moveTo>
                  <a:pt x="0" y="0"/>
                </a:moveTo>
                <a:lnTo>
                  <a:pt x="621911" y="0"/>
                </a:lnTo>
                <a:lnTo>
                  <a:pt x="621911" y="629131"/>
                </a:lnTo>
                <a:lnTo>
                  <a:pt x="0" y="629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09647" y="7338136"/>
            <a:ext cx="621911" cy="622690"/>
          </a:xfrm>
          <a:custGeom>
            <a:avLst/>
            <a:gdLst/>
            <a:ahLst/>
            <a:cxnLst/>
            <a:rect r="r" b="b" t="t" l="l"/>
            <a:pathLst>
              <a:path h="622690" w="621911">
                <a:moveTo>
                  <a:pt x="0" y="0"/>
                </a:moveTo>
                <a:lnTo>
                  <a:pt x="621912" y="0"/>
                </a:lnTo>
                <a:lnTo>
                  <a:pt x="621912" y="622690"/>
                </a:lnTo>
                <a:lnTo>
                  <a:pt x="0" y="622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5655" y="1679233"/>
            <a:ext cx="8515889" cy="13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2"/>
              </a:lnSpc>
              <a:spcBef>
                <a:spcPct val="0"/>
              </a:spcBef>
            </a:pPr>
            <a:r>
              <a:rPr lang="en-US" sz="759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Нашето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5655" y="2468360"/>
            <a:ext cx="8515889" cy="133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4"/>
              </a:lnSpc>
              <a:spcBef>
                <a:spcPct val="0"/>
              </a:spcBef>
            </a:pPr>
            <a:r>
              <a:rPr lang="en-US" sz="7824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Решение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8592" y="5107907"/>
            <a:ext cx="37795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Интеграция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82585" y="5105400"/>
            <a:ext cx="37795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Значимо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98592" y="7202206"/>
            <a:ext cx="37795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Автоматизация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87638" y="7202206"/>
            <a:ext cx="37795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Прозрачност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98592" y="5520692"/>
            <a:ext cx="57918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Интелигентен слой между кода и cloud-а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82585" y="5489612"/>
            <a:ext cx="62797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Реални CO₂ метрики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82585" y="3037173"/>
            <a:ext cx="37795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Лесно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82585" y="3395313"/>
            <a:ext cx="59926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Не изисква промени в логиката на кода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98592" y="7619785"/>
            <a:ext cx="61728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Автоматично избира най-екологичния вариант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7638" y="7627405"/>
            <a:ext cx="609052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Одитируеми данни, подготовка за CSRD отчети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33197" y="10444490"/>
            <a:ext cx="18954393" cy="5781090"/>
          </a:xfrm>
          <a:custGeom>
            <a:avLst/>
            <a:gdLst/>
            <a:ahLst/>
            <a:cxnLst/>
            <a:rect r="r" b="b" t="t" l="l"/>
            <a:pathLst>
              <a:path h="5781090" w="18954393">
                <a:moveTo>
                  <a:pt x="0" y="0"/>
                </a:moveTo>
                <a:lnTo>
                  <a:pt x="18954394" y="0"/>
                </a:lnTo>
                <a:lnTo>
                  <a:pt x="18954394" y="5781090"/>
                </a:lnTo>
                <a:lnTo>
                  <a:pt x="0" y="578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5492094" y="10444490"/>
            <a:ext cx="18954393" cy="5781090"/>
          </a:xfrm>
          <a:custGeom>
            <a:avLst/>
            <a:gdLst/>
            <a:ahLst/>
            <a:cxnLst/>
            <a:rect r="r" b="b" t="t" l="l"/>
            <a:pathLst>
              <a:path h="5781090" w="18954393">
                <a:moveTo>
                  <a:pt x="0" y="0"/>
                </a:moveTo>
                <a:lnTo>
                  <a:pt x="18954393" y="0"/>
                </a:lnTo>
                <a:lnTo>
                  <a:pt x="18954393" y="5781090"/>
                </a:lnTo>
                <a:lnTo>
                  <a:pt x="0" y="578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4886931" y="10444490"/>
            <a:ext cx="18954393" cy="5781090"/>
          </a:xfrm>
          <a:custGeom>
            <a:avLst/>
            <a:gdLst/>
            <a:ahLst/>
            <a:cxnLst/>
            <a:rect r="r" b="b" t="t" l="l"/>
            <a:pathLst>
              <a:path h="5781090" w="18954393">
                <a:moveTo>
                  <a:pt x="0" y="0"/>
                </a:moveTo>
                <a:lnTo>
                  <a:pt x="18954393" y="0"/>
                </a:lnTo>
                <a:lnTo>
                  <a:pt x="18954393" y="5781090"/>
                </a:lnTo>
                <a:lnTo>
                  <a:pt x="0" y="578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-321041" y="6432097"/>
            <a:ext cx="8485071" cy="4536705"/>
            <a:chOff x="0" y="0"/>
            <a:chExt cx="76009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0096" cy="406400"/>
            </a:xfrm>
            <a:custGeom>
              <a:avLst/>
              <a:gdLst/>
              <a:ahLst/>
              <a:cxnLst/>
              <a:rect r="r" b="b" t="t" l="l"/>
              <a:pathLst>
                <a:path h="406400" w="760096">
                  <a:moveTo>
                    <a:pt x="556896" y="0"/>
                  </a:moveTo>
                  <a:cubicBezTo>
                    <a:pt x="669121" y="0"/>
                    <a:pt x="760096" y="90976"/>
                    <a:pt x="760096" y="203200"/>
                  </a:cubicBezTo>
                  <a:cubicBezTo>
                    <a:pt x="760096" y="315424"/>
                    <a:pt x="669121" y="406400"/>
                    <a:pt x="556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009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4901464" y="6432097"/>
            <a:ext cx="8485071" cy="4536705"/>
            <a:chOff x="0" y="0"/>
            <a:chExt cx="76009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0096" cy="406400"/>
            </a:xfrm>
            <a:custGeom>
              <a:avLst/>
              <a:gdLst/>
              <a:ahLst/>
              <a:cxnLst/>
              <a:rect r="r" b="b" t="t" l="l"/>
              <a:pathLst>
                <a:path h="406400" w="760096">
                  <a:moveTo>
                    <a:pt x="556896" y="0"/>
                  </a:moveTo>
                  <a:cubicBezTo>
                    <a:pt x="669121" y="0"/>
                    <a:pt x="760096" y="90976"/>
                    <a:pt x="760096" y="203200"/>
                  </a:cubicBezTo>
                  <a:cubicBezTo>
                    <a:pt x="760096" y="315424"/>
                    <a:pt x="669121" y="406400"/>
                    <a:pt x="556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739F2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009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0121592" y="6460672"/>
            <a:ext cx="8485071" cy="4536705"/>
            <a:chOff x="0" y="0"/>
            <a:chExt cx="760096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096" cy="406400"/>
            </a:xfrm>
            <a:custGeom>
              <a:avLst/>
              <a:gdLst/>
              <a:ahLst/>
              <a:cxnLst/>
              <a:rect r="r" b="b" t="t" l="l"/>
              <a:pathLst>
                <a:path h="406400" w="760096">
                  <a:moveTo>
                    <a:pt x="556896" y="0"/>
                  </a:moveTo>
                  <a:cubicBezTo>
                    <a:pt x="669121" y="0"/>
                    <a:pt x="760096" y="90976"/>
                    <a:pt x="760096" y="203200"/>
                  </a:cubicBezTo>
                  <a:cubicBezTo>
                    <a:pt x="760096" y="315424"/>
                    <a:pt x="669121" y="406400"/>
                    <a:pt x="556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EF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009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431243" y="5368254"/>
            <a:ext cx="980504" cy="897765"/>
          </a:xfrm>
          <a:custGeom>
            <a:avLst/>
            <a:gdLst/>
            <a:ahLst/>
            <a:cxnLst/>
            <a:rect r="r" b="b" t="t" l="l"/>
            <a:pathLst>
              <a:path h="897765" w="980504">
                <a:moveTo>
                  <a:pt x="0" y="0"/>
                </a:moveTo>
                <a:lnTo>
                  <a:pt x="980504" y="0"/>
                </a:lnTo>
                <a:lnTo>
                  <a:pt x="980504" y="897765"/>
                </a:lnTo>
                <a:lnTo>
                  <a:pt x="0" y="897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95876" y="5340886"/>
            <a:ext cx="896247" cy="923966"/>
          </a:xfrm>
          <a:custGeom>
            <a:avLst/>
            <a:gdLst/>
            <a:ahLst/>
            <a:cxnLst/>
            <a:rect r="r" b="b" t="t" l="l"/>
            <a:pathLst>
              <a:path h="923966" w="896247">
                <a:moveTo>
                  <a:pt x="0" y="0"/>
                </a:moveTo>
                <a:lnTo>
                  <a:pt x="896248" y="0"/>
                </a:lnTo>
                <a:lnTo>
                  <a:pt x="896248" y="923967"/>
                </a:lnTo>
                <a:lnTo>
                  <a:pt x="0" y="923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22441" y="5380269"/>
            <a:ext cx="883373" cy="927426"/>
          </a:xfrm>
          <a:custGeom>
            <a:avLst/>
            <a:gdLst/>
            <a:ahLst/>
            <a:cxnLst/>
            <a:rect r="r" b="b" t="t" l="l"/>
            <a:pathLst>
              <a:path h="927426" w="883373">
                <a:moveTo>
                  <a:pt x="0" y="0"/>
                </a:moveTo>
                <a:lnTo>
                  <a:pt x="883373" y="0"/>
                </a:lnTo>
                <a:lnTo>
                  <a:pt x="883373" y="927425"/>
                </a:lnTo>
                <a:lnTo>
                  <a:pt x="0" y="927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59712" y="1860819"/>
            <a:ext cx="111685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Как работи проектът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52897" y="2546623"/>
            <a:ext cx="1058220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GreenWin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31708" y="6755691"/>
            <a:ext cx="377957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Multi-reg</a:t>
            </a:r>
            <a:r>
              <a:rPr lang="en-US" b="true" sz="23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ion 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4213" y="6755691"/>
            <a:ext cx="377957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23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ime-shifting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91039" y="7436480"/>
            <a:ext cx="312371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 Избира се на най-чистият възможен регион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73081" y="7622217"/>
            <a:ext cx="31418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Изпълнява се в най-оптималния момент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4341" y="6784266"/>
            <a:ext cx="377957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ML</a:t>
            </a:r>
            <a:r>
              <a:rPr lang="en-US" b="true" sz="23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модел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14999" y="7436480"/>
            <a:ext cx="3307461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Прогнозира най-доброто време и регион за пускането на насрочена задача</a:t>
            </a:r>
          </a:p>
        </p:txBody>
      </p:sp>
      <p:sp>
        <p:nvSpPr>
          <p:cNvPr name="AutoShape 28" id="28"/>
          <p:cNvSpPr/>
          <p:nvPr/>
        </p:nvSpPr>
        <p:spPr>
          <a:xfrm>
            <a:off x="8588616" y="9258300"/>
            <a:ext cx="1110768" cy="0"/>
          </a:xfrm>
          <a:prstGeom prst="line">
            <a:avLst/>
          </a:prstGeom>
          <a:ln cap="flat" w="28575">
            <a:solidFill>
              <a:srgbClr val="739F2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3058" y="6363488"/>
            <a:ext cx="6040279" cy="2635072"/>
          </a:xfrm>
          <a:custGeom>
            <a:avLst/>
            <a:gdLst/>
            <a:ahLst/>
            <a:cxnLst/>
            <a:rect r="r" b="b" t="t" l="l"/>
            <a:pathLst>
              <a:path h="2635072" w="6040279">
                <a:moveTo>
                  <a:pt x="0" y="0"/>
                </a:moveTo>
                <a:lnTo>
                  <a:pt x="6040279" y="0"/>
                </a:lnTo>
                <a:lnTo>
                  <a:pt x="6040279" y="2635072"/>
                </a:lnTo>
                <a:lnTo>
                  <a:pt x="0" y="2635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359" y="1470526"/>
            <a:ext cx="1588919" cy="1588919"/>
          </a:xfrm>
          <a:custGeom>
            <a:avLst/>
            <a:gdLst/>
            <a:ahLst/>
            <a:cxnLst/>
            <a:rect r="r" b="b" t="t" l="l"/>
            <a:pathLst>
              <a:path h="1588919" w="1588919">
                <a:moveTo>
                  <a:pt x="0" y="0"/>
                </a:moveTo>
                <a:lnTo>
                  <a:pt x="1588919" y="0"/>
                </a:lnTo>
                <a:lnTo>
                  <a:pt x="1588919" y="1588919"/>
                </a:lnTo>
                <a:lnTo>
                  <a:pt x="0" y="1588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97815" y="2017864"/>
            <a:ext cx="1588919" cy="1535293"/>
          </a:xfrm>
          <a:custGeom>
            <a:avLst/>
            <a:gdLst/>
            <a:ahLst/>
            <a:cxnLst/>
            <a:rect r="r" b="b" t="t" l="l"/>
            <a:pathLst>
              <a:path h="1535293" w="1588919">
                <a:moveTo>
                  <a:pt x="0" y="0"/>
                </a:moveTo>
                <a:lnTo>
                  <a:pt x="1588919" y="0"/>
                </a:lnTo>
                <a:lnTo>
                  <a:pt x="1588919" y="1535294"/>
                </a:lnTo>
                <a:lnTo>
                  <a:pt x="0" y="1535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8016" y="7881370"/>
            <a:ext cx="1865871" cy="1117190"/>
          </a:xfrm>
          <a:custGeom>
            <a:avLst/>
            <a:gdLst/>
            <a:ahLst/>
            <a:cxnLst/>
            <a:rect r="r" b="b" t="t" l="l"/>
            <a:pathLst>
              <a:path h="1117190" w="1865871">
                <a:moveTo>
                  <a:pt x="0" y="0"/>
                </a:moveTo>
                <a:lnTo>
                  <a:pt x="1865871" y="0"/>
                </a:lnTo>
                <a:lnTo>
                  <a:pt x="1865871" y="1117190"/>
                </a:lnTo>
                <a:lnTo>
                  <a:pt x="0" y="1117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8016" y="4949734"/>
            <a:ext cx="3727845" cy="920239"/>
          </a:xfrm>
          <a:custGeom>
            <a:avLst/>
            <a:gdLst/>
            <a:ahLst/>
            <a:cxnLst/>
            <a:rect r="r" b="b" t="t" l="l"/>
            <a:pathLst>
              <a:path h="920239" w="3727845">
                <a:moveTo>
                  <a:pt x="0" y="0"/>
                </a:moveTo>
                <a:lnTo>
                  <a:pt x="3727845" y="0"/>
                </a:lnTo>
                <a:lnTo>
                  <a:pt x="3727845" y="920239"/>
                </a:lnTo>
                <a:lnTo>
                  <a:pt x="0" y="920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6405" y="5869973"/>
            <a:ext cx="4338594" cy="987030"/>
          </a:xfrm>
          <a:custGeom>
            <a:avLst/>
            <a:gdLst/>
            <a:ahLst/>
            <a:cxnLst/>
            <a:rect r="r" b="b" t="t" l="l"/>
            <a:pathLst>
              <a:path h="987030" w="4338594">
                <a:moveTo>
                  <a:pt x="0" y="0"/>
                </a:moveTo>
                <a:lnTo>
                  <a:pt x="4338594" y="0"/>
                </a:lnTo>
                <a:lnTo>
                  <a:pt x="4338594" y="987030"/>
                </a:lnTo>
                <a:lnTo>
                  <a:pt x="0" y="9870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75608" y="3560732"/>
            <a:ext cx="1535285" cy="1582768"/>
          </a:xfrm>
          <a:custGeom>
            <a:avLst/>
            <a:gdLst/>
            <a:ahLst/>
            <a:cxnLst/>
            <a:rect r="r" b="b" t="t" l="l"/>
            <a:pathLst>
              <a:path h="1582768" w="1535285">
                <a:moveTo>
                  <a:pt x="0" y="0"/>
                </a:moveTo>
                <a:lnTo>
                  <a:pt x="1535286" y="0"/>
                </a:lnTo>
                <a:lnTo>
                  <a:pt x="1535286" y="1582768"/>
                </a:lnTo>
                <a:lnTo>
                  <a:pt x="0" y="1582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32402" y="2233376"/>
            <a:ext cx="824032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Използвани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56552" y="2926095"/>
            <a:ext cx="74008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Технологии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1214" y="1899581"/>
            <a:ext cx="6336217" cy="7691917"/>
          </a:xfrm>
          <a:custGeom>
            <a:avLst/>
            <a:gdLst/>
            <a:ahLst/>
            <a:cxnLst/>
            <a:rect r="r" b="b" t="t" l="l"/>
            <a:pathLst>
              <a:path h="7691917" w="6336217">
                <a:moveTo>
                  <a:pt x="0" y="0"/>
                </a:moveTo>
                <a:lnTo>
                  <a:pt x="6336217" y="0"/>
                </a:lnTo>
                <a:lnTo>
                  <a:pt x="6336217" y="7691917"/>
                </a:lnTo>
                <a:lnTo>
                  <a:pt x="0" y="7691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168181"/>
            <a:ext cx="7559789" cy="4252381"/>
          </a:xfrm>
          <a:custGeom>
            <a:avLst/>
            <a:gdLst/>
            <a:ahLst/>
            <a:cxnLst/>
            <a:rect r="r" b="b" t="t" l="l"/>
            <a:pathLst>
              <a:path h="4252381" w="7559789">
                <a:moveTo>
                  <a:pt x="0" y="0"/>
                </a:moveTo>
                <a:lnTo>
                  <a:pt x="7559789" y="0"/>
                </a:lnTo>
                <a:lnTo>
                  <a:pt x="7559789" y="4252381"/>
                </a:lnTo>
                <a:lnTo>
                  <a:pt x="0" y="425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75756"/>
            <a:ext cx="7361209" cy="11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8"/>
              </a:lnSpc>
              <a:spcBef>
                <a:spcPct val="0"/>
              </a:spcBef>
            </a:pPr>
            <a:r>
              <a:rPr lang="en-US" sz="675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Преживяване 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88607"/>
            <a:ext cx="8115300" cy="115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8"/>
              </a:lnSpc>
              <a:spcBef>
                <a:spcPct val="0"/>
              </a:spcBef>
            </a:pPr>
            <a:r>
              <a:rPr lang="en-US" sz="6756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Процес на Работа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701884" y="7370389"/>
            <a:ext cx="6404205" cy="0"/>
          </a:xfrm>
          <a:prstGeom prst="line">
            <a:avLst/>
          </a:prstGeom>
          <a:ln cap="flat" w="28575">
            <a:solidFill>
              <a:srgbClr val="739F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34214" y="1830480"/>
            <a:ext cx="7083625" cy="7119221"/>
          </a:xfrm>
          <a:custGeom>
            <a:avLst/>
            <a:gdLst/>
            <a:ahLst/>
            <a:cxnLst/>
            <a:rect r="r" b="b" t="t" l="l"/>
            <a:pathLst>
              <a:path h="7119221" w="7083625">
                <a:moveTo>
                  <a:pt x="0" y="0"/>
                </a:moveTo>
                <a:lnTo>
                  <a:pt x="7083625" y="0"/>
                </a:lnTo>
                <a:lnTo>
                  <a:pt x="7083625" y="7119221"/>
                </a:lnTo>
                <a:lnTo>
                  <a:pt x="0" y="711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87638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14999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42361" y="819785"/>
            <a:ext cx="21169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01884" y="3205005"/>
            <a:ext cx="7881131" cy="167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4"/>
              </a:lnSpc>
              <a:spcBef>
                <a:spcPct val="0"/>
              </a:spcBef>
            </a:pPr>
            <a:r>
              <a:rPr lang="en-US" sz="972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Благодарим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1884" y="4337220"/>
            <a:ext cx="7672905" cy="167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4"/>
              </a:lnSpc>
              <a:spcBef>
                <a:spcPct val="0"/>
              </a:spcBef>
            </a:pPr>
            <a:r>
              <a:rPr lang="en-US" sz="9724" b="true">
                <a:solidFill>
                  <a:srgbClr val="739F2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Ви за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01884" y="5431028"/>
            <a:ext cx="7185370" cy="167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4"/>
              </a:lnSpc>
              <a:spcBef>
                <a:spcPct val="0"/>
              </a:spcBef>
            </a:pPr>
            <a:r>
              <a:rPr lang="en-US" sz="972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Вниманието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DAHFI3NUncc</dc:identifier>
  <dcterms:modified xsi:type="dcterms:W3CDTF">2011-08-01T06:04:30Z</dcterms:modified>
  <cp:revision>1</cp:revision>
  <dc:title>Cream Green Modern Minimalist Renewable Energy Presentation</dc:title>
</cp:coreProperties>
</file>